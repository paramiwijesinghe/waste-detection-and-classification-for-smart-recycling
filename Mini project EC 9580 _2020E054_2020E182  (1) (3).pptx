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315" r:id="rId6"/>
    <p:sldId id="257" r:id="rId7"/>
    <p:sldId id="262" r:id="rId8"/>
    <p:sldId id="293" r:id="rId9"/>
    <p:sldId id="294" r:id="rId10"/>
    <p:sldId id="264" r:id="rId11"/>
    <p:sldId id="300" r:id="rId12"/>
    <p:sldId id="311" r:id="rId13"/>
    <p:sldId id="265" r:id="rId14"/>
    <p:sldId id="295" r:id="rId15"/>
    <p:sldId id="296" r:id="rId16"/>
    <p:sldId id="297" r:id="rId17"/>
    <p:sldId id="298" r:id="rId18"/>
    <p:sldId id="299" r:id="rId19"/>
    <p:sldId id="292" r:id="rId20"/>
    <p:sldId id="301" r:id="rId21"/>
    <p:sldId id="267" r:id="rId22"/>
    <p:sldId id="303" r:id="rId23"/>
    <p:sldId id="302" r:id="rId24"/>
    <p:sldId id="304" r:id="rId25"/>
    <p:sldId id="313" r:id="rId26"/>
    <p:sldId id="305" r:id="rId27"/>
    <p:sldId id="268" r:id="rId28"/>
    <p:sldId id="307" r:id="rId29"/>
    <p:sldId id="308" r:id="rId30"/>
    <p:sldId id="306" r:id="rId31"/>
    <p:sldId id="280" r:id="rId32"/>
    <p:sldId id="309" r:id="rId33"/>
    <p:sldId id="282" r:id="rId34"/>
    <p:sldId id="312" r:id="rId35"/>
    <p:sldId id="291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TSdjaQQkPo/MxkNm65qYf9KR/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6E48A4-A325-4ADA-AB0E-320A1F08E87F}">
  <a:tblStyle styleId="{426E48A4-A325-4ADA-AB0E-320A1F08E8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customschemas.google.com/relationships/presentationmetadata" Target="meta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B74D4B9-5EDD-CDF4-2B7F-F12DD632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991A20D-86AE-0413-D8AF-5BABBFAAA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AF5D50A-154F-EC86-E2FC-8555D8FFF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114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6b5cb9fa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6b5cb9fac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76b5cb9fac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D523A6E-A64D-DF2E-C23E-5D28AE12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6b5cb9fac_2_0:notes">
            <a:extLst>
              <a:ext uri="{FF2B5EF4-FFF2-40B4-BE49-F238E27FC236}">
                <a16:creationId xmlns:a16="http://schemas.microsoft.com/office/drawing/2014/main" id="{A462363B-A5A4-9BCA-84AD-F4132CE38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6b5cb9fac_2_0:notes">
            <a:extLst>
              <a:ext uri="{FF2B5EF4-FFF2-40B4-BE49-F238E27FC236}">
                <a16:creationId xmlns:a16="http://schemas.microsoft.com/office/drawing/2014/main" id="{71D2697F-5CEC-2384-6CED-42EC7504F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76b5cb9fac_2_0:notes">
            <a:extLst>
              <a:ext uri="{FF2B5EF4-FFF2-40B4-BE49-F238E27FC236}">
                <a16:creationId xmlns:a16="http://schemas.microsoft.com/office/drawing/2014/main" id="{60AB3ED3-7CE6-A10A-E214-16C040ED0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216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357F82B5-0D37-7144-6511-5D96A1C0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6b5cb9fac_2_0:notes">
            <a:extLst>
              <a:ext uri="{FF2B5EF4-FFF2-40B4-BE49-F238E27FC236}">
                <a16:creationId xmlns:a16="http://schemas.microsoft.com/office/drawing/2014/main" id="{425C4D66-168D-9AC8-253A-78987BECCF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6b5cb9fac_2_0:notes">
            <a:extLst>
              <a:ext uri="{FF2B5EF4-FFF2-40B4-BE49-F238E27FC236}">
                <a16:creationId xmlns:a16="http://schemas.microsoft.com/office/drawing/2014/main" id="{44D95555-871B-4A44-72E4-AAA909776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76b5cb9fac_2_0:notes">
            <a:extLst>
              <a:ext uri="{FF2B5EF4-FFF2-40B4-BE49-F238E27FC236}">
                <a16:creationId xmlns:a16="http://schemas.microsoft.com/office/drawing/2014/main" id="{B204F9DC-839E-264D-25A4-C31CDCD870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46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A0BBDBD5-CD0B-6416-8004-CBDD592D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>
            <a:extLst>
              <a:ext uri="{FF2B5EF4-FFF2-40B4-BE49-F238E27FC236}">
                <a16:creationId xmlns:a16="http://schemas.microsoft.com/office/drawing/2014/main" id="{EFB5BE2F-DE87-D296-15E2-02F5D0F30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:notes">
            <a:extLst>
              <a:ext uri="{FF2B5EF4-FFF2-40B4-BE49-F238E27FC236}">
                <a16:creationId xmlns:a16="http://schemas.microsoft.com/office/drawing/2014/main" id="{2FB42176-2D2F-9180-A305-DD7E3673D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3203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7224B3F3-599C-9CA9-9007-FA6ACF32A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>
            <a:extLst>
              <a:ext uri="{FF2B5EF4-FFF2-40B4-BE49-F238E27FC236}">
                <a16:creationId xmlns:a16="http://schemas.microsoft.com/office/drawing/2014/main" id="{55D23584-1861-9A1B-C569-5E6360793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:notes">
            <a:extLst>
              <a:ext uri="{FF2B5EF4-FFF2-40B4-BE49-F238E27FC236}">
                <a16:creationId xmlns:a16="http://schemas.microsoft.com/office/drawing/2014/main" id="{33401FD6-9CD2-2C2D-50B8-B0E0FE8FD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397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91F589D0-4CE6-01A4-21CD-0890B66B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>
            <a:extLst>
              <a:ext uri="{FF2B5EF4-FFF2-40B4-BE49-F238E27FC236}">
                <a16:creationId xmlns:a16="http://schemas.microsoft.com/office/drawing/2014/main" id="{1E979787-90DA-B8CE-8FC8-F5D6EB164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>
            <a:extLst>
              <a:ext uri="{FF2B5EF4-FFF2-40B4-BE49-F238E27FC236}">
                <a16:creationId xmlns:a16="http://schemas.microsoft.com/office/drawing/2014/main" id="{063149B4-A668-F33A-9D00-46563A607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253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1AF14945-A7A1-FA0F-1B24-C87657BD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>
            <a:extLst>
              <a:ext uri="{FF2B5EF4-FFF2-40B4-BE49-F238E27FC236}">
                <a16:creationId xmlns:a16="http://schemas.microsoft.com/office/drawing/2014/main" id="{DD133891-A54D-8648-3587-D93283215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>
            <a:extLst>
              <a:ext uri="{FF2B5EF4-FFF2-40B4-BE49-F238E27FC236}">
                <a16:creationId xmlns:a16="http://schemas.microsoft.com/office/drawing/2014/main" id="{C623BA40-7708-84E0-4E6B-2B2D2B725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635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1DBAEA59-DFEE-5AFE-3791-17DF03F9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>
            <a:extLst>
              <a:ext uri="{FF2B5EF4-FFF2-40B4-BE49-F238E27FC236}">
                <a16:creationId xmlns:a16="http://schemas.microsoft.com/office/drawing/2014/main" id="{6782CFCE-D546-C1D9-2755-DD9717BD0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>
            <a:extLst>
              <a:ext uri="{FF2B5EF4-FFF2-40B4-BE49-F238E27FC236}">
                <a16:creationId xmlns:a16="http://schemas.microsoft.com/office/drawing/2014/main" id="{5623A4BC-CE03-8CE5-B788-C03420177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7756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3FF1249B-E123-598A-CABE-A102FC5C3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>
            <a:extLst>
              <a:ext uri="{FF2B5EF4-FFF2-40B4-BE49-F238E27FC236}">
                <a16:creationId xmlns:a16="http://schemas.microsoft.com/office/drawing/2014/main" id="{A7053509-D652-A8FA-7DE6-DCE6A739C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>
            <a:extLst>
              <a:ext uri="{FF2B5EF4-FFF2-40B4-BE49-F238E27FC236}">
                <a16:creationId xmlns:a16="http://schemas.microsoft.com/office/drawing/2014/main" id="{19B18D16-6DE6-475B-1032-05A63FA83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0951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262AEA2F-00AD-C63B-2E99-185E5838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>
            <a:extLst>
              <a:ext uri="{FF2B5EF4-FFF2-40B4-BE49-F238E27FC236}">
                <a16:creationId xmlns:a16="http://schemas.microsoft.com/office/drawing/2014/main" id="{772F957D-C8FF-064A-AE08-62E22C275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>
            <a:extLst>
              <a:ext uri="{FF2B5EF4-FFF2-40B4-BE49-F238E27FC236}">
                <a16:creationId xmlns:a16="http://schemas.microsoft.com/office/drawing/2014/main" id="{8099CF30-D94E-E88B-E98F-5E7EF6B9D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842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4D2732C5-84CC-6F4B-869F-531A8767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>
            <a:extLst>
              <a:ext uri="{FF2B5EF4-FFF2-40B4-BE49-F238E27FC236}">
                <a16:creationId xmlns:a16="http://schemas.microsoft.com/office/drawing/2014/main" id="{0969C6F8-C3F3-BDDB-B8AE-4F41FD8FB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>
            <a:extLst>
              <a:ext uri="{FF2B5EF4-FFF2-40B4-BE49-F238E27FC236}">
                <a16:creationId xmlns:a16="http://schemas.microsoft.com/office/drawing/2014/main" id="{AF61E0B6-6D1B-8B8D-5700-22F5D0BBB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673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1183ABC9-F585-69A3-8928-828CEBD0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>
            <a:extLst>
              <a:ext uri="{FF2B5EF4-FFF2-40B4-BE49-F238E27FC236}">
                <a16:creationId xmlns:a16="http://schemas.microsoft.com/office/drawing/2014/main" id="{D4F03735-613E-F193-7C7F-CF6FFB331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>
            <a:extLst>
              <a:ext uri="{FF2B5EF4-FFF2-40B4-BE49-F238E27FC236}">
                <a16:creationId xmlns:a16="http://schemas.microsoft.com/office/drawing/2014/main" id="{FA7F2D42-03F3-50A3-CED1-E40B7436D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713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3371ABF-A289-CA7D-40E7-DE8ED863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>
            <a:extLst>
              <a:ext uri="{FF2B5EF4-FFF2-40B4-BE49-F238E27FC236}">
                <a16:creationId xmlns:a16="http://schemas.microsoft.com/office/drawing/2014/main" id="{0E27AE7C-DD37-B452-1140-069E91BAC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>
            <a:extLst>
              <a:ext uri="{FF2B5EF4-FFF2-40B4-BE49-F238E27FC236}">
                <a16:creationId xmlns:a16="http://schemas.microsoft.com/office/drawing/2014/main" id="{AABE7F93-BC1C-1710-C4A1-E0DE47F0C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>
            <a:extLst>
              <a:ext uri="{FF2B5EF4-FFF2-40B4-BE49-F238E27FC236}">
                <a16:creationId xmlns:a16="http://schemas.microsoft.com/office/drawing/2014/main" id="{30AEC256-EF26-B9E4-9309-39F2A45496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1788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08AC8DE-F672-21DD-B2AD-6FF4ADB6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>
            <a:extLst>
              <a:ext uri="{FF2B5EF4-FFF2-40B4-BE49-F238E27FC236}">
                <a16:creationId xmlns:a16="http://schemas.microsoft.com/office/drawing/2014/main" id="{8672B754-9499-CF37-3F5D-6545A8C66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>
            <a:extLst>
              <a:ext uri="{FF2B5EF4-FFF2-40B4-BE49-F238E27FC236}">
                <a16:creationId xmlns:a16="http://schemas.microsoft.com/office/drawing/2014/main" id="{D9465761-10D9-C057-34E7-C5454B8D9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>
            <a:extLst>
              <a:ext uri="{FF2B5EF4-FFF2-40B4-BE49-F238E27FC236}">
                <a16:creationId xmlns:a16="http://schemas.microsoft.com/office/drawing/2014/main" id="{E280CDE6-DC6B-FC8E-04AF-9883178E0E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979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742E08B-7DCC-962D-1334-7F30B21C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>
            <a:extLst>
              <a:ext uri="{FF2B5EF4-FFF2-40B4-BE49-F238E27FC236}">
                <a16:creationId xmlns:a16="http://schemas.microsoft.com/office/drawing/2014/main" id="{56CA801B-41E3-6D3C-3685-A5EC73606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>
            <a:extLst>
              <a:ext uri="{FF2B5EF4-FFF2-40B4-BE49-F238E27FC236}">
                <a16:creationId xmlns:a16="http://schemas.microsoft.com/office/drawing/2014/main" id="{6ACF21E5-4077-3A91-3E18-775118139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>
            <a:extLst>
              <a:ext uri="{FF2B5EF4-FFF2-40B4-BE49-F238E27FC236}">
                <a16:creationId xmlns:a16="http://schemas.microsoft.com/office/drawing/2014/main" id="{4CBC4C0E-CAAD-9E93-2684-9DE502159E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45498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04CFFDB-F1AF-2ED3-11B7-650047C4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>
            <a:extLst>
              <a:ext uri="{FF2B5EF4-FFF2-40B4-BE49-F238E27FC236}">
                <a16:creationId xmlns:a16="http://schemas.microsoft.com/office/drawing/2014/main" id="{7B70A7AD-8285-2EE1-83CB-C3FB23F7C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>
            <a:extLst>
              <a:ext uri="{FF2B5EF4-FFF2-40B4-BE49-F238E27FC236}">
                <a16:creationId xmlns:a16="http://schemas.microsoft.com/office/drawing/2014/main" id="{372F0B9E-56D9-F8A3-69C2-122A776AA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>
            <a:extLst>
              <a:ext uri="{FF2B5EF4-FFF2-40B4-BE49-F238E27FC236}">
                <a16:creationId xmlns:a16="http://schemas.microsoft.com/office/drawing/2014/main" id="{741F1044-2D53-4E7D-39C0-1A564D35FC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3708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6AEC99B-F73F-669F-5E1D-A6D5509D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6ac38830d_0_0:notes">
            <a:extLst>
              <a:ext uri="{FF2B5EF4-FFF2-40B4-BE49-F238E27FC236}">
                <a16:creationId xmlns:a16="http://schemas.microsoft.com/office/drawing/2014/main" id="{573EE0FB-84A6-1DA7-04D1-676AD3B6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6ac38830d_0_0:notes">
            <a:extLst>
              <a:ext uri="{FF2B5EF4-FFF2-40B4-BE49-F238E27FC236}">
                <a16:creationId xmlns:a16="http://schemas.microsoft.com/office/drawing/2014/main" id="{11511EE9-A6FB-30B3-805B-AEB8C3495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6ac38830d_0_0:notes">
            <a:extLst>
              <a:ext uri="{FF2B5EF4-FFF2-40B4-BE49-F238E27FC236}">
                <a16:creationId xmlns:a16="http://schemas.microsoft.com/office/drawing/2014/main" id="{B4749E9C-7187-48B3-B75D-83840C3B4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5761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3FA3478E-BBD1-7D20-E01F-B6CA44E5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>
            <a:extLst>
              <a:ext uri="{FF2B5EF4-FFF2-40B4-BE49-F238E27FC236}">
                <a16:creationId xmlns:a16="http://schemas.microsoft.com/office/drawing/2014/main" id="{D2F7F187-B984-F9C7-5913-B6C31180B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>
            <a:extLst>
              <a:ext uri="{FF2B5EF4-FFF2-40B4-BE49-F238E27FC236}">
                <a16:creationId xmlns:a16="http://schemas.microsoft.com/office/drawing/2014/main" id="{55F492D7-4A3F-8778-9C08-942E364B9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8998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2C3688F-B6C9-7A32-70C3-E8D674B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>
            <a:extLst>
              <a:ext uri="{FF2B5EF4-FFF2-40B4-BE49-F238E27FC236}">
                <a16:creationId xmlns:a16="http://schemas.microsoft.com/office/drawing/2014/main" id="{403A8042-95DB-CA00-0220-EBC768A2C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>
            <a:extLst>
              <a:ext uri="{FF2B5EF4-FFF2-40B4-BE49-F238E27FC236}">
                <a16:creationId xmlns:a16="http://schemas.microsoft.com/office/drawing/2014/main" id="{365B2671-A10B-ED5D-367F-A5C5C5AC4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1364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2ECC237-A036-8299-4AD4-85335717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>
            <a:extLst>
              <a:ext uri="{FF2B5EF4-FFF2-40B4-BE49-F238E27FC236}">
                <a16:creationId xmlns:a16="http://schemas.microsoft.com/office/drawing/2014/main" id="{AEC87F96-77ED-A389-BC9D-6DD6F5075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>
            <a:extLst>
              <a:ext uri="{FF2B5EF4-FFF2-40B4-BE49-F238E27FC236}">
                <a16:creationId xmlns:a16="http://schemas.microsoft.com/office/drawing/2014/main" id="{ACE04330-33C0-070C-8383-C9DD7842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31525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177489822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1774898220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1774898220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99BCE17-A89B-6112-6A54-FCCF9B23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1774898220_0_37:notes">
            <a:extLst>
              <a:ext uri="{FF2B5EF4-FFF2-40B4-BE49-F238E27FC236}">
                <a16:creationId xmlns:a16="http://schemas.microsoft.com/office/drawing/2014/main" id="{FE69AB1E-4C5B-B592-5F5D-024F8AE9E6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1774898220_0_37:notes">
            <a:extLst>
              <a:ext uri="{FF2B5EF4-FFF2-40B4-BE49-F238E27FC236}">
                <a16:creationId xmlns:a16="http://schemas.microsoft.com/office/drawing/2014/main" id="{DD1E75D3-175C-3C6B-C52B-12409BCC2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1774898220_0_37:notes">
            <a:extLst>
              <a:ext uri="{FF2B5EF4-FFF2-40B4-BE49-F238E27FC236}">
                <a16:creationId xmlns:a16="http://schemas.microsoft.com/office/drawing/2014/main" id="{3EAD7A39-CDDE-3812-824A-05696FAC0A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17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5c958bf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5c958bfc0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15c958bfc0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62D47AF3-5F3A-7138-52C4-23F5D4F8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5c958bfc0_0_121:notes">
            <a:extLst>
              <a:ext uri="{FF2B5EF4-FFF2-40B4-BE49-F238E27FC236}">
                <a16:creationId xmlns:a16="http://schemas.microsoft.com/office/drawing/2014/main" id="{19A7B8B8-0040-4BAD-E8A3-D0EA5AD54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5c958bfc0_0_121:notes">
            <a:extLst>
              <a:ext uri="{FF2B5EF4-FFF2-40B4-BE49-F238E27FC236}">
                <a16:creationId xmlns:a16="http://schemas.microsoft.com/office/drawing/2014/main" id="{85C0F468-9CC7-95C5-1BAE-787DC70AA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15c958bfc0_0_121:notes">
            <a:extLst>
              <a:ext uri="{FF2B5EF4-FFF2-40B4-BE49-F238E27FC236}">
                <a16:creationId xmlns:a16="http://schemas.microsoft.com/office/drawing/2014/main" id="{8C448421-E8D0-4A5B-E0E1-D15AA7A79B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83022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mn2u/garbage-classification-v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98807" y="1057275"/>
            <a:ext cx="7447505" cy="22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 dirty="0">
                <a:latin typeface="Calibri"/>
                <a:ea typeface="Calibri"/>
                <a:cs typeface="Calibri"/>
                <a:sym typeface="Calibri"/>
              </a:rPr>
              <a:t>WASTE DETECTION AND CLASSIFICATION FOR SMART RECYCLING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1348908" y="5292913"/>
            <a:ext cx="49473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2020E054 – HULANGAMUWA R.R.G.W.B.S.C.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2020E182 – WIJESINGHE L.A.D.P.A.</a:t>
            </a:r>
            <a:endParaRPr b="1"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797243" y="3948412"/>
            <a:ext cx="605063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Of Engineering, University Of Jaffna.</a:t>
            </a:r>
            <a:endParaRPr lang="en-US" dirty="0">
              <a:ea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9580: Computer Vision Mini Group Project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4E612-A762-97FA-EEF6-63A3532BC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651" y="0"/>
            <a:ext cx="45753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3BE96F7-F78E-78D8-8023-7184178A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DA0F7E7-1B13-E28C-5CF1-7F3F7E68F634}"/>
              </a:ext>
            </a:extLst>
          </p:cNvPr>
          <p:cNvSpPr txBox="1"/>
          <p:nvPr/>
        </p:nvSpPr>
        <p:spPr>
          <a:xfrm>
            <a:off x="3882882" y="378319"/>
            <a:ext cx="442623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CONTENT</a:t>
            </a:r>
            <a:endParaRPr b="1"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D2FC60A-893E-C0E6-4D71-61EA284B3D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3C71B6-98D4-EF47-585D-EF110C988459}"/>
              </a:ext>
            </a:extLst>
          </p:cNvPr>
          <p:cNvSpPr/>
          <p:nvPr/>
        </p:nvSpPr>
        <p:spPr>
          <a:xfrm>
            <a:off x="1013201" y="1230983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</a:p>
        </p:txBody>
      </p:sp>
      <p:sp>
        <p:nvSpPr>
          <p:cNvPr id="20" name="Google Shape;99;p2">
            <a:extLst>
              <a:ext uri="{FF2B5EF4-FFF2-40B4-BE49-F238E27FC236}">
                <a16:creationId xmlns:a16="http://schemas.microsoft.com/office/drawing/2014/main" id="{F98A8C64-B23C-B07E-9644-B1AB1E3520EF}"/>
              </a:ext>
            </a:extLst>
          </p:cNvPr>
          <p:cNvSpPr txBox="1"/>
          <p:nvPr/>
        </p:nvSpPr>
        <p:spPr>
          <a:xfrm>
            <a:off x="1638298" y="1254216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21" name="Google Shape;99;p2">
            <a:extLst>
              <a:ext uri="{FF2B5EF4-FFF2-40B4-BE49-F238E27FC236}">
                <a16:creationId xmlns:a16="http://schemas.microsoft.com/office/drawing/2014/main" id="{446F7E61-415B-AA68-473D-B4B917C37A7E}"/>
              </a:ext>
            </a:extLst>
          </p:cNvPr>
          <p:cNvSpPr txBox="1"/>
          <p:nvPr/>
        </p:nvSpPr>
        <p:spPr>
          <a:xfrm>
            <a:off x="7291278" y="1928291"/>
            <a:ext cx="38183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and Validation</a:t>
            </a:r>
          </a:p>
        </p:txBody>
      </p:sp>
      <p:sp>
        <p:nvSpPr>
          <p:cNvPr id="22" name="Google Shape;99;p2">
            <a:extLst>
              <a:ext uri="{FF2B5EF4-FFF2-40B4-BE49-F238E27FC236}">
                <a16:creationId xmlns:a16="http://schemas.microsoft.com/office/drawing/2014/main" id="{93AACC23-FCFC-8F4A-71C5-9AA19819A4A7}"/>
              </a:ext>
            </a:extLst>
          </p:cNvPr>
          <p:cNvSpPr txBox="1"/>
          <p:nvPr/>
        </p:nvSpPr>
        <p:spPr>
          <a:xfrm>
            <a:off x="1621126" y="1933475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</a:p>
        </p:txBody>
      </p:sp>
      <p:sp>
        <p:nvSpPr>
          <p:cNvPr id="23" name="Google Shape;99;p2">
            <a:extLst>
              <a:ext uri="{FF2B5EF4-FFF2-40B4-BE49-F238E27FC236}">
                <a16:creationId xmlns:a16="http://schemas.microsoft.com/office/drawing/2014/main" id="{4293130C-400C-7A34-16CA-87BACBD0893A}"/>
              </a:ext>
            </a:extLst>
          </p:cNvPr>
          <p:cNvSpPr txBox="1"/>
          <p:nvPr/>
        </p:nvSpPr>
        <p:spPr>
          <a:xfrm>
            <a:off x="7329417" y="2634663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</a:p>
        </p:txBody>
      </p:sp>
      <p:sp>
        <p:nvSpPr>
          <p:cNvPr id="24" name="Google Shape;99;p2">
            <a:extLst>
              <a:ext uri="{FF2B5EF4-FFF2-40B4-BE49-F238E27FC236}">
                <a16:creationId xmlns:a16="http://schemas.microsoft.com/office/drawing/2014/main" id="{886DF2BE-AFD2-2A33-C9CD-846C41C0F8A7}"/>
              </a:ext>
            </a:extLst>
          </p:cNvPr>
          <p:cNvSpPr txBox="1"/>
          <p:nvPr/>
        </p:nvSpPr>
        <p:spPr>
          <a:xfrm>
            <a:off x="1621126" y="6214871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 Steps</a:t>
            </a:r>
          </a:p>
        </p:txBody>
      </p:sp>
      <p:sp>
        <p:nvSpPr>
          <p:cNvPr id="25" name="Google Shape;99;p2">
            <a:extLst>
              <a:ext uri="{FF2B5EF4-FFF2-40B4-BE49-F238E27FC236}">
                <a16:creationId xmlns:a16="http://schemas.microsoft.com/office/drawing/2014/main" id="{C545869C-896E-2BEC-5380-731222925448}"/>
              </a:ext>
            </a:extLst>
          </p:cNvPr>
          <p:cNvSpPr txBox="1"/>
          <p:nvPr/>
        </p:nvSpPr>
        <p:spPr>
          <a:xfrm>
            <a:off x="1621126" y="2659078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</a:p>
        </p:txBody>
      </p:sp>
      <p:sp>
        <p:nvSpPr>
          <p:cNvPr id="26" name="Google Shape;99;p2">
            <a:extLst>
              <a:ext uri="{FF2B5EF4-FFF2-40B4-BE49-F238E27FC236}">
                <a16:creationId xmlns:a16="http://schemas.microsoft.com/office/drawing/2014/main" id="{78A51B2C-E971-7801-DA33-4376461D5A85}"/>
              </a:ext>
            </a:extLst>
          </p:cNvPr>
          <p:cNvSpPr txBox="1"/>
          <p:nvPr/>
        </p:nvSpPr>
        <p:spPr>
          <a:xfrm>
            <a:off x="7312245" y="1248257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</a:p>
        </p:txBody>
      </p:sp>
      <p:sp>
        <p:nvSpPr>
          <p:cNvPr id="27" name="Google Shape;99;p2">
            <a:extLst>
              <a:ext uri="{FF2B5EF4-FFF2-40B4-BE49-F238E27FC236}">
                <a16:creationId xmlns:a16="http://schemas.microsoft.com/office/drawing/2014/main" id="{E3D67404-A4C2-7A9B-6E88-26A9FD148351}"/>
              </a:ext>
            </a:extLst>
          </p:cNvPr>
          <p:cNvSpPr txBox="1"/>
          <p:nvPr/>
        </p:nvSpPr>
        <p:spPr>
          <a:xfrm>
            <a:off x="1621126" y="3343746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</a:p>
        </p:txBody>
      </p:sp>
      <p:sp>
        <p:nvSpPr>
          <p:cNvPr id="28" name="Google Shape;99;p2">
            <a:extLst>
              <a:ext uri="{FF2B5EF4-FFF2-40B4-BE49-F238E27FC236}">
                <a16:creationId xmlns:a16="http://schemas.microsoft.com/office/drawing/2014/main" id="{A605A3DB-BDD9-5626-C2CE-345CD35D5CC1}"/>
              </a:ext>
            </a:extLst>
          </p:cNvPr>
          <p:cNvSpPr txBox="1"/>
          <p:nvPr/>
        </p:nvSpPr>
        <p:spPr>
          <a:xfrm>
            <a:off x="1621126" y="4061280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</a:p>
        </p:txBody>
      </p:sp>
      <p:sp>
        <p:nvSpPr>
          <p:cNvPr id="29" name="Google Shape;99;p2">
            <a:extLst>
              <a:ext uri="{FF2B5EF4-FFF2-40B4-BE49-F238E27FC236}">
                <a16:creationId xmlns:a16="http://schemas.microsoft.com/office/drawing/2014/main" id="{9DECF004-9AE6-4BE8-1A11-6B2E86DB9C9E}"/>
              </a:ext>
            </a:extLst>
          </p:cNvPr>
          <p:cNvSpPr txBox="1"/>
          <p:nvPr/>
        </p:nvSpPr>
        <p:spPr>
          <a:xfrm>
            <a:off x="1621126" y="4777563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30" name="Google Shape;99;p2">
            <a:extLst>
              <a:ext uri="{FF2B5EF4-FFF2-40B4-BE49-F238E27FC236}">
                <a16:creationId xmlns:a16="http://schemas.microsoft.com/office/drawing/2014/main" id="{10045D21-580D-6E3A-DCA4-81FA5D2D2C57}"/>
              </a:ext>
            </a:extLst>
          </p:cNvPr>
          <p:cNvSpPr txBox="1"/>
          <p:nvPr/>
        </p:nvSpPr>
        <p:spPr>
          <a:xfrm>
            <a:off x="1621126" y="5496217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Preparation</a:t>
            </a:r>
          </a:p>
        </p:txBody>
      </p:sp>
      <p:sp>
        <p:nvSpPr>
          <p:cNvPr id="31" name="Google Shape;99;p2">
            <a:extLst>
              <a:ext uri="{FF2B5EF4-FFF2-40B4-BE49-F238E27FC236}">
                <a16:creationId xmlns:a16="http://schemas.microsoft.com/office/drawing/2014/main" id="{482E16EF-95FA-1643-17E3-69171E27F621}"/>
              </a:ext>
            </a:extLst>
          </p:cNvPr>
          <p:cNvSpPr txBox="1"/>
          <p:nvPr/>
        </p:nvSpPr>
        <p:spPr>
          <a:xfrm>
            <a:off x="7384690" y="5496217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</a:t>
            </a:r>
          </a:p>
        </p:txBody>
      </p:sp>
      <p:sp>
        <p:nvSpPr>
          <p:cNvPr id="32" name="Google Shape;99;p2">
            <a:extLst>
              <a:ext uri="{FF2B5EF4-FFF2-40B4-BE49-F238E27FC236}">
                <a16:creationId xmlns:a16="http://schemas.microsoft.com/office/drawing/2014/main" id="{FB474FB0-C656-96A4-3EC0-26DFB38B4173}"/>
              </a:ext>
            </a:extLst>
          </p:cNvPr>
          <p:cNvSpPr txBox="1"/>
          <p:nvPr/>
        </p:nvSpPr>
        <p:spPr>
          <a:xfrm>
            <a:off x="7384690" y="4754248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D32CB2-6E84-413F-2774-CC1D35F38A5A}"/>
              </a:ext>
            </a:extLst>
          </p:cNvPr>
          <p:cNvSpPr/>
          <p:nvPr/>
        </p:nvSpPr>
        <p:spPr>
          <a:xfrm>
            <a:off x="1013201" y="1907099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B12277-0B6E-88D5-FD0C-1440B663DCF8}"/>
              </a:ext>
            </a:extLst>
          </p:cNvPr>
          <p:cNvSpPr/>
          <p:nvPr/>
        </p:nvSpPr>
        <p:spPr>
          <a:xfrm>
            <a:off x="1011519" y="2630444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D5E028-2658-CCE4-8464-DBE54FF58F80}"/>
              </a:ext>
            </a:extLst>
          </p:cNvPr>
          <p:cNvSpPr/>
          <p:nvPr/>
        </p:nvSpPr>
        <p:spPr>
          <a:xfrm>
            <a:off x="1028652" y="3306560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2B5D13-4488-10C9-CF94-11AD416AE94A}"/>
              </a:ext>
            </a:extLst>
          </p:cNvPr>
          <p:cNvSpPr/>
          <p:nvPr/>
        </p:nvSpPr>
        <p:spPr>
          <a:xfrm>
            <a:off x="1028652" y="4028414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F49A53-3588-FBB7-5B86-BA6D5D41F18F}"/>
              </a:ext>
            </a:extLst>
          </p:cNvPr>
          <p:cNvSpPr/>
          <p:nvPr/>
        </p:nvSpPr>
        <p:spPr>
          <a:xfrm>
            <a:off x="1013118" y="4750108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362CE4-6966-1A54-BC35-E125F2828E44}"/>
              </a:ext>
            </a:extLst>
          </p:cNvPr>
          <p:cNvSpPr/>
          <p:nvPr/>
        </p:nvSpPr>
        <p:spPr>
          <a:xfrm>
            <a:off x="1011519" y="5471802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AEEA76-CD16-6132-4BF4-B0A1EFC69B63}"/>
              </a:ext>
            </a:extLst>
          </p:cNvPr>
          <p:cNvSpPr/>
          <p:nvPr/>
        </p:nvSpPr>
        <p:spPr>
          <a:xfrm>
            <a:off x="1011519" y="6193496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784D6E-8DB0-BA22-F7FA-99E378537117}"/>
              </a:ext>
            </a:extLst>
          </p:cNvPr>
          <p:cNvSpPr/>
          <p:nvPr/>
        </p:nvSpPr>
        <p:spPr>
          <a:xfrm>
            <a:off x="6690512" y="1235115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09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0C0484-959A-12A6-87B0-D22D1FADE2C7}"/>
              </a:ext>
            </a:extLst>
          </p:cNvPr>
          <p:cNvSpPr/>
          <p:nvPr/>
        </p:nvSpPr>
        <p:spPr>
          <a:xfrm>
            <a:off x="6690512" y="1907099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4060EE-0878-720A-2873-FDFDC620C347}"/>
              </a:ext>
            </a:extLst>
          </p:cNvPr>
          <p:cNvSpPr/>
          <p:nvPr/>
        </p:nvSpPr>
        <p:spPr>
          <a:xfrm>
            <a:off x="6690512" y="2610248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818CA7-143B-CCB1-379C-396241A77CAD}"/>
              </a:ext>
            </a:extLst>
          </p:cNvPr>
          <p:cNvSpPr/>
          <p:nvPr/>
        </p:nvSpPr>
        <p:spPr>
          <a:xfrm>
            <a:off x="6690511" y="3290670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sp>
        <p:nvSpPr>
          <p:cNvPr id="44" name="Google Shape;99;p2">
            <a:extLst>
              <a:ext uri="{FF2B5EF4-FFF2-40B4-BE49-F238E27FC236}">
                <a16:creationId xmlns:a16="http://schemas.microsoft.com/office/drawing/2014/main" id="{5D1A9DF0-5C08-DD90-1BBD-EA4DB3C14020}"/>
              </a:ext>
            </a:extLst>
          </p:cNvPr>
          <p:cNvSpPr txBox="1"/>
          <p:nvPr/>
        </p:nvSpPr>
        <p:spPr>
          <a:xfrm>
            <a:off x="7312245" y="3162737"/>
            <a:ext cx="341644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 and Results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0FEADE-D2F0-3F99-F023-F285FD5DCC04}"/>
              </a:ext>
            </a:extLst>
          </p:cNvPr>
          <p:cNvSpPr/>
          <p:nvPr/>
        </p:nvSpPr>
        <p:spPr>
          <a:xfrm>
            <a:off x="6690511" y="4011314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B16291-515F-C2E2-27AE-1ECC585CD345}"/>
              </a:ext>
            </a:extLst>
          </p:cNvPr>
          <p:cNvSpPr/>
          <p:nvPr/>
        </p:nvSpPr>
        <p:spPr>
          <a:xfrm>
            <a:off x="6690511" y="4729833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3F1351-6567-AC2E-6C8B-6CEEFB142DE3}"/>
              </a:ext>
            </a:extLst>
          </p:cNvPr>
          <p:cNvSpPr/>
          <p:nvPr/>
        </p:nvSpPr>
        <p:spPr>
          <a:xfrm>
            <a:off x="6690511" y="5471802"/>
            <a:ext cx="694179" cy="510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49" name="Google Shape;99;p2">
            <a:extLst>
              <a:ext uri="{FF2B5EF4-FFF2-40B4-BE49-F238E27FC236}">
                <a16:creationId xmlns:a16="http://schemas.microsoft.com/office/drawing/2014/main" id="{4CD77688-926C-DD1B-8F1F-BA7DBB1B87B8}"/>
              </a:ext>
            </a:extLst>
          </p:cNvPr>
          <p:cNvSpPr txBox="1"/>
          <p:nvPr/>
        </p:nvSpPr>
        <p:spPr>
          <a:xfrm>
            <a:off x="7329417" y="4041022"/>
            <a:ext cx="3416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Contribution</a:t>
            </a:r>
          </a:p>
        </p:txBody>
      </p:sp>
    </p:spTree>
    <p:extLst>
      <p:ext uri="{BB962C8B-B14F-4D97-AF65-F5344CB8AC3E}">
        <p14:creationId xmlns:p14="http://schemas.microsoft.com/office/powerpoint/2010/main" val="232244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4496701" y="565575"/>
            <a:ext cx="319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843450" y="1536194"/>
            <a:ext cx="105051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Rapid increase in global waste generation poses significant environmental challenges.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Inefficient recycling systems result in contaminated recyclable materials, reducing their usability.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sorting of waste is:</a:t>
            </a:r>
          </a:p>
          <a:p>
            <a:pPr marL="1828800" lvl="1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Time-consuming and labor-intensive.</a:t>
            </a:r>
          </a:p>
          <a:p>
            <a:pPr marL="1828800" lvl="1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Prone to human errors.</a:t>
            </a:r>
          </a:p>
          <a:p>
            <a:pPr marL="1828800" lvl="1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Risky for workers exposed to hazardous materials.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Growing need for automated solutions to improve waste segregation and recycling efficiency.</a:t>
            </a: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6b5cb9fac_2_0"/>
          <p:cNvSpPr txBox="1">
            <a:spLocks noGrp="1"/>
          </p:cNvSpPr>
          <p:nvPr>
            <p:ph type="title"/>
          </p:nvPr>
        </p:nvSpPr>
        <p:spPr>
          <a:xfrm>
            <a:off x="838200" y="371789"/>
            <a:ext cx="10515600" cy="812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rgbClr val="242424"/>
                </a:solidFill>
                <a:highlight>
                  <a:srgbClr val="FFFFFF"/>
                </a:highlight>
              </a:rPr>
              <a:t>PROBLEM STATEMENT</a:t>
            </a:r>
            <a:endParaRPr sz="3200" b="1" u="sng" dirty="0"/>
          </a:p>
        </p:txBody>
      </p:sp>
      <p:sp>
        <p:nvSpPr>
          <p:cNvPr id="135" name="Google Shape;135;g276b5cb9fac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26F45D09-F1BE-1451-8C86-6605CBB56370}"/>
              </a:ext>
            </a:extLst>
          </p:cNvPr>
          <p:cNvSpPr txBox="1"/>
          <p:nvPr/>
        </p:nvSpPr>
        <p:spPr>
          <a:xfrm>
            <a:off x="753015" y="2644190"/>
            <a:ext cx="105051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recycling systems struggle with accurate and efficient waste segregation.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sorting is time-consuming, prone to errors, and exposes workers to hazardous materials.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ECC8196-2BB0-0696-8335-8EF942C5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6b5cb9fac_2_0">
            <a:extLst>
              <a:ext uri="{FF2B5EF4-FFF2-40B4-BE49-F238E27FC236}">
                <a16:creationId xmlns:a16="http://schemas.microsoft.com/office/drawing/2014/main" id="{7C84575A-E976-1D40-0FC1-0C24135DF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71789"/>
            <a:ext cx="10515600" cy="812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rgbClr val="242424"/>
                </a:solidFill>
                <a:highlight>
                  <a:srgbClr val="FFFFFF"/>
                </a:highlight>
              </a:rPr>
              <a:t>OBJECTIVE</a:t>
            </a:r>
            <a:endParaRPr sz="3200" b="1" u="sng" dirty="0"/>
          </a:p>
        </p:txBody>
      </p:sp>
      <p:sp>
        <p:nvSpPr>
          <p:cNvPr id="135" name="Google Shape;135;g276b5cb9fac_2_0">
            <a:extLst>
              <a:ext uri="{FF2B5EF4-FFF2-40B4-BE49-F238E27FC236}">
                <a16:creationId xmlns:a16="http://schemas.microsoft.com/office/drawing/2014/main" id="{C838E67F-8A6C-C412-3405-CC701A716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C49D89C5-81D6-AE22-6754-53D441BE89C8}"/>
              </a:ext>
            </a:extLst>
          </p:cNvPr>
          <p:cNvSpPr txBox="1"/>
          <p:nvPr/>
        </p:nvSpPr>
        <p:spPr>
          <a:xfrm>
            <a:off x="848700" y="2644190"/>
            <a:ext cx="105051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an automated waste detection and classification system that enhances recycling efficiency by accurately identifying and categorizing waste into six main types: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Glass, Paper, Cardboard, Plastic, Metal, Biological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611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68DCF227-45D1-BADC-BF0F-8DF82E42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6b5cb9fac_2_0">
            <a:extLst>
              <a:ext uri="{FF2B5EF4-FFF2-40B4-BE49-F238E27FC236}">
                <a16:creationId xmlns:a16="http://schemas.microsoft.com/office/drawing/2014/main" id="{2141AAF1-C410-4B96-DDAF-26BA21608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71789"/>
            <a:ext cx="10515600" cy="812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/>
              <a:t>PROPOSED SOLUTION</a:t>
            </a:r>
            <a:endParaRPr sz="3200" b="1" u="sng" dirty="0"/>
          </a:p>
        </p:txBody>
      </p:sp>
      <p:sp>
        <p:nvSpPr>
          <p:cNvPr id="135" name="Google Shape;135;g276b5cb9fac_2_0">
            <a:extLst>
              <a:ext uri="{FF2B5EF4-FFF2-40B4-BE49-F238E27FC236}">
                <a16:creationId xmlns:a16="http://schemas.microsoft.com/office/drawing/2014/main" id="{2D95A0AF-10FE-8CAA-5214-68A28D7D09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924537A7-A244-C3C0-0F34-866391D74B55}"/>
              </a:ext>
            </a:extLst>
          </p:cNvPr>
          <p:cNvSpPr txBox="1"/>
          <p:nvPr/>
        </p:nvSpPr>
        <p:spPr>
          <a:xfrm>
            <a:off x="838200" y="2062280"/>
            <a:ext cx="105051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computer vision-based system leveraging Convolutional Neural Networks (CNNs) trained on the Garbage Dataset to classify waste. 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aims to achieve an accuracy of at least 85% to ensure high reliability in real-world applications.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Significance:</a:t>
            </a:r>
          </a:p>
          <a:p>
            <a:pPr marL="1828800" marR="0" lvl="0" indent="-4572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sustainable waste management.</a:t>
            </a:r>
          </a:p>
          <a:p>
            <a:pPr marL="1828800" marR="0" lvl="0" indent="-4572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labor and human exposure to hazards.</a:t>
            </a:r>
          </a:p>
          <a:p>
            <a:pPr marL="1828800" marR="0" lvl="0" indent="-4572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recycling rates by minimizing contamination.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71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>
            <a:spLocks noGrp="1"/>
          </p:cNvSpPr>
          <p:nvPr>
            <p:ph type="title"/>
          </p:nvPr>
        </p:nvSpPr>
        <p:spPr>
          <a:xfrm>
            <a:off x="4194456" y="320475"/>
            <a:ext cx="38030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DATASET OVERVIEW</a:t>
            </a:r>
            <a:endParaRPr b="1" dirty="0"/>
          </a:p>
        </p:txBody>
      </p:sp>
      <p:sp>
        <p:nvSpPr>
          <p:cNvPr id="151" name="Google Shape;151;p12"/>
          <p:cNvSpPr txBox="1">
            <a:spLocks noGrp="1"/>
          </p:cNvSpPr>
          <p:nvPr>
            <p:ph type="sldNum" idx="12"/>
          </p:nvPr>
        </p:nvSpPr>
        <p:spPr>
          <a:xfrm>
            <a:off x="9353443" y="635497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D755769A-EB9D-CB73-4957-C6C70FAE5EC1}"/>
              </a:ext>
            </a:extLst>
          </p:cNvPr>
          <p:cNvSpPr txBox="1"/>
          <p:nvPr/>
        </p:nvSpPr>
        <p:spPr>
          <a:xfrm>
            <a:off x="369267" y="1330448"/>
            <a:ext cx="8888819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Dataset from Kaggle.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collection of waste images categorized into 10 classes: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Metal, Glass, Biological, Paper, Battery, Trash, Cardboard, Shoes, Clothes, Plastic.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Images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19,407 images.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Link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https://www.kaggle.com/datasets/sumn2u/garbage-classification-v2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3E708-728B-6582-3376-FE5FC0D80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04" y="4476309"/>
            <a:ext cx="2553095" cy="23771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F420EE-732A-8195-E943-944A869B0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904" y="2227281"/>
            <a:ext cx="2553094" cy="22226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410126-9318-FE1C-C4CE-2EE64AF3FC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902" y="-22393"/>
            <a:ext cx="2553094" cy="22628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81B87-C6AA-A87C-5040-4B0B233EB6FE}"/>
              </a:ext>
            </a:extLst>
          </p:cNvPr>
          <p:cNvSpPr/>
          <p:nvPr/>
        </p:nvSpPr>
        <p:spPr>
          <a:xfrm>
            <a:off x="9638906" y="4588"/>
            <a:ext cx="2553094" cy="22226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E03BD3-3CBA-8330-482B-7D35E8317084}"/>
              </a:ext>
            </a:extLst>
          </p:cNvPr>
          <p:cNvSpPr/>
          <p:nvPr/>
        </p:nvSpPr>
        <p:spPr>
          <a:xfrm>
            <a:off x="9638906" y="2240448"/>
            <a:ext cx="2553094" cy="22226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551FDD-3D23-43A0-C382-7F3DB0C582A0}"/>
              </a:ext>
            </a:extLst>
          </p:cNvPr>
          <p:cNvSpPr/>
          <p:nvPr/>
        </p:nvSpPr>
        <p:spPr>
          <a:xfrm>
            <a:off x="9638906" y="4476309"/>
            <a:ext cx="2553094" cy="2377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B92A9C00-3265-B270-53BA-C787943A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>
            <a:extLst>
              <a:ext uri="{FF2B5EF4-FFF2-40B4-BE49-F238E27FC236}">
                <a16:creationId xmlns:a16="http://schemas.microsoft.com/office/drawing/2014/main" id="{C4DA9C2D-61D4-93DF-7E7D-0779D6D6A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456" y="320475"/>
            <a:ext cx="38030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METHODOLOGY</a:t>
            </a:r>
            <a:endParaRPr b="1" dirty="0"/>
          </a:p>
        </p:txBody>
      </p:sp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A6F1BC91-6E01-1ADA-8F46-38D9E2DF14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A1CB4CDE-3F44-D715-9168-07D1624023C2}"/>
              </a:ext>
            </a:extLst>
          </p:cNvPr>
          <p:cNvSpPr txBox="1"/>
          <p:nvPr/>
        </p:nvSpPr>
        <p:spPr>
          <a:xfrm>
            <a:off x="493734" y="1890554"/>
            <a:ext cx="1120452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 and Pre-Processing</a:t>
            </a:r>
          </a:p>
          <a:p>
            <a:pPr marL="1489075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Resizing Images: Standardized all images to 100x100 pixels for uniform input   size.</a:t>
            </a:r>
          </a:p>
          <a:p>
            <a:pPr marL="1371600" marR="0" lvl="0" indent="-169863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Balancing Data: Sampled 400 images per class to address class imbalance, ensuring fair representation.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</a:p>
          <a:p>
            <a:pPr marL="1147763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Classification:</a:t>
            </a:r>
          </a:p>
          <a:p>
            <a:pPr marL="1881188" lvl="8" indent="-169863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Architecture: CNN with convolutional, pooling, and dense layers.</a:t>
            </a:r>
          </a:p>
          <a:p>
            <a:pPr marL="1881188" lvl="8" indent="-169863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Data Augmentation: Applied rotation, flipping, zooming, and shifting to improve generalization.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01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DBAD383A-BC68-4583-813A-C92939D7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>
            <a:extLst>
              <a:ext uri="{FF2B5EF4-FFF2-40B4-BE49-F238E27FC236}">
                <a16:creationId xmlns:a16="http://schemas.microsoft.com/office/drawing/2014/main" id="{D7909999-B47C-2E70-1968-D2E670BC8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456" y="320475"/>
            <a:ext cx="38030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METHODOLOGY</a:t>
            </a:r>
            <a:endParaRPr b="1" dirty="0"/>
          </a:p>
        </p:txBody>
      </p:sp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0AD47DA7-C2EA-5C4B-B3CB-D58185A65E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A7A8FB02-D176-CF7F-CA42-91BABDF460A6}"/>
              </a:ext>
            </a:extLst>
          </p:cNvPr>
          <p:cNvSpPr txBox="1"/>
          <p:nvPr/>
        </p:nvSpPr>
        <p:spPr>
          <a:xfrm>
            <a:off x="493734" y="2090192"/>
            <a:ext cx="1120452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7763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Detection:</a:t>
            </a:r>
          </a:p>
          <a:p>
            <a:pPr marL="1998663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 YOLO for real-time object detection.</a:t>
            </a:r>
          </a:p>
          <a:p>
            <a:pPr marL="1998663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Features: Identified waste with bounding boxes and class predictions using fine-tuned pre-trained weights.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the model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65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title"/>
          </p:nvPr>
        </p:nvSpPr>
        <p:spPr>
          <a:xfrm>
            <a:off x="4027258" y="136938"/>
            <a:ext cx="45833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DATASET PREPARATION</a:t>
            </a:r>
            <a:endParaRPr b="1" dirty="0"/>
          </a:p>
        </p:txBody>
      </p:sp>
      <p:sp>
        <p:nvSpPr>
          <p:cNvPr id="162" name="Google Shape;1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5A4F099F-5128-C7B7-A187-468589D1C54C}"/>
              </a:ext>
            </a:extLst>
          </p:cNvPr>
          <p:cNvSpPr txBox="1"/>
          <p:nvPr/>
        </p:nvSpPr>
        <p:spPr>
          <a:xfrm>
            <a:off x="493734" y="1307876"/>
            <a:ext cx="1120452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Dataset Creation</a:t>
            </a:r>
          </a:p>
          <a:p>
            <a:pPr marL="1201738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Ensure equal representation of all target categories.</a:t>
            </a:r>
          </a:p>
          <a:p>
            <a:pPr marL="1201738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1738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</a:p>
          <a:p>
            <a:pPr marL="1946275" marR="0" lvl="0" indent="-339725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Target Categories: Metal, Glass, Biological, Paper, Cardboard, Plastic.</a:t>
            </a:r>
          </a:p>
          <a:p>
            <a:pPr marL="1946275" marR="0" lvl="0" indent="-339725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Sampling: Selected 400 images per category to balance the dataset.</a:t>
            </a:r>
          </a:p>
          <a:p>
            <a:pPr marL="1946275" marR="0" lvl="0" indent="-339725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Dataset Size: 2400 images.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372EF-C1C5-2383-075D-F98F06B09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616" y="4250723"/>
            <a:ext cx="4678760" cy="2209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8EAC8E46-FD70-2574-62A9-C3BFA1D7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>
            <a:extLst>
              <a:ext uri="{FF2B5EF4-FFF2-40B4-BE49-F238E27FC236}">
                <a16:creationId xmlns:a16="http://schemas.microsoft.com/office/drawing/2014/main" id="{3173142F-01D3-CBFE-06AE-761BC3154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092AE4A0-4B31-41A7-A361-C8901CBD0559}"/>
              </a:ext>
            </a:extLst>
          </p:cNvPr>
          <p:cNvSpPr txBox="1"/>
          <p:nvPr/>
        </p:nvSpPr>
        <p:spPr>
          <a:xfrm>
            <a:off x="493737" y="982196"/>
            <a:ext cx="11204525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Increase dataset diversity and improve model generalization.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 Used:</a:t>
            </a:r>
          </a:p>
          <a:p>
            <a:pPr marL="1319213" marR="0" lvl="0" indent="-2349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Rotation: Random rotation of images up to 40 degrees.</a:t>
            </a:r>
          </a:p>
          <a:p>
            <a:pPr marL="1319213" marR="0" lvl="0" indent="-2349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Horizontal Flipping: Randomly flip images horizontally to simulate different orientations.</a:t>
            </a:r>
          </a:p>
          <a:p>
            <a:pPr marL="1319213" marR="0" lvl="0" indent="-2349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Zoom: Random zooming of images up to 20% to create varied scales.</a:t>
            </a:r>
          </a:p>
          <a:p>
            <a:pPr marL="1319213" marR="0" lvl="0" indent="-2349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Shifts:</a:t>
            </a:r>
          </a:p>
          <a:p>
            <a:pPr marL="2625725" marR="0" lvl="0" indent="-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Width shift range: 10%.</a:t>
            </a:r>
          </a:p>
          <a:p>
            <a:pPr marL="2625725" marR="0" lvl="0" indent="-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Height shift range: 10%.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Fill Mode: Pixels outside the boundary of the image are filled using the nearest pixel value.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752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BF129DF-E896-AAE3-0C09-C97962B8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>
            <a:extLst>
              <a:ext uri="{FF2B5EF4-FFF2-40B4-BE49-F238E27FC236}">
                <a16:creationId xmlns:a16="http://schemas.microsoft.com/office/drawing/2014/main" id="{13F84E2A-4E8D-8D66-AC2E-942D61BC85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37D67FBE-8622-305B-3965-CDBFE169842C}"/>
              </a:ext>
            </a:extLst>
          </p:cNvPr>
          <p:cNvSpPr txBox="1"/>
          <p:nvPr/>
        </p:nvSpPr>
        <p:spPr>
          <a:xfrm>
            <a:off x="493735" y="1625691"/>
            <a:ext cx="1120452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Dataset size significantly increased with 4 additional augmented images per original image.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Augmented dataset with additional samples to enhance variability.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A9720-324C-C393-66E2-A3443009D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32" y="3464154"/>
            <a:ext cx="3737434" cy="2463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648A18-01BA-7A70-B8E4-6D10DA6FD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832" y="3795690"/>
            <a:ext cx="599206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8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0764C881-65C6-EF2F-D5C1-07FC2A8D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>
            <a:extLst>
              <a:ext uri="{FF2B5EF4-FFF2-40B4-BE49-F238E27FC236}">
                <a16:creationId xmlns:a16="http://schemas.microsoft.com/office/drawing/2014/main" id="{34A98852-E261-8E16-5B8B-C996F16D25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6E203E23-8057-E1D4-B9C1-FCEAA90D0ED1}"/>
              </a:ext>
            </a:extLst>
          </p:cNvPr>
          <p:cNvSpPr txBox="1"/>
          <p:nvPr/>
        </p:nvSpPr>
        <p:spPr>
          <a:xfrm>
            <a:off x="493735" y="1544904"/>
            <a:ext cx="11204525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Image Resizing: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Resized all images to 100×100 pixels using OpenCV.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uniform input dimensions for the CNN.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Data Normalization: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 pixel values to the range [0,1].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model convergence during training.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Label Encoding: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Mapped waste categories to numeric labels using a dictionary.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Applied one-hot encoding to convert labels into a categorical format for six classes: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Metal, Glass, Biological, Paper, Cardboard, Plastic.</a:t>
            </a:r>
          </a:p>
        </p:txBody>
      </p:sp>
      <p:sp>
        <p:nvSpPr>
          <p:cNvPr id="5" name="Google Shape;160;p13">
            <a:extLst>
              <a:ext uri="{FF2B5EF4-FFF2-40B4-BE49-F238E27FC236}">
                <a16:creationId xmlns:a16="http://schemas.microsoft.com/office/drawing/2014/main" id="{93FDDFE8-A85E-C15F-CF53-DE51B4B9F5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7259" y="319414"/>
            <a:ext cx="413747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PREPROCESSING STEPS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571655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B4ED0E50-BF84-74EF-139C-9CD24E53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>
            <a:extLst>
              <a:ext uri="{FF2B5EF4-FFF2-40B4-BE49-F238E27FC236}">
                <a16:creationId xmlns:a16="http://schemas.microsoft.com/office/drawing/2014/main" id="{161F1C88-FB82-4179-7BA8-4ADB645206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76B0DE43-11D4-C668-9A08-C8CE6C9CB49C}"/>
              </a:ext>
            </a:extLst>
          </p:cNvPr>
          <p:cNvSpPr txBox="1"/>
          <p:nvPr/>
        </p:nvSpPr>
        <p:spPr>
          <a:xfrm>
            <a:off x="493734" y="1320264"/>
            <a:ext cx="1120452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Dataset Splitting:</a:t>
            </a:r>
          </a:p>
          <a:p>
            <a:pPr marL="1371600" marR="0" lvl="0" indent="-287338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Divided the dataset into training, validation, and testing subsets:</a:t>
            </a:r>
          </a:p>
          <a:p>
            <a:pPr marL="2403475" marR="0" lvl="0" indent="-5222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403475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Set: 9600 images.</a:t>
            </a:r>
          </a:p>
          <a:p>
            <a:pPr marL="2403475" marR="0" lvl="0" indent="-5222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403475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Set: 1200 images.</a:t>
            </a:r>
          </a:p>
          <a:p>
            <a:pPr marL="2403475" marR="0" lvl="0" indent="-5222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403475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Set: 1200 images.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688CFF-A02E-9677-5F50-8782023F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426" y="4108006"/>
            <a:ext cx="5325143" cy="153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95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0BC80BA0-7B69-B6BF-C00B-5234FC54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>
            <a:extLst>
              <a:ext uri="{FF2B5EF4-FFF2-40B4-BE49-F238E27FC236}">
                <a16:creationId xmlns:a16="http://schemas.microsoft.com/office/drawing/2014/main" id="{0B1CF7F4-A956-C874-6EF7-7F4D2E4EC0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8B1D5B53-E59C-0E00-2EE5-DE15E923893A}"/>
              </a:ext>
            </a:extLst>
          </p:cNvPr>
          <p:cNvSpPr txBox="1"/>
          <p:nvPr/>
        </p:nvSpPr>
        <p:spPr>
          <a:xfrm>
            <a:off x="6755721" y="2781464"/>
            <a:ext cx="455814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 details of the data array: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70B2F-C071-07B0-4796-C2B664418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53" y="1113262"/>
            <a:ext cx="9794894" cy="142634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8CD95FA-026A-95AD-37AC-D77FCB152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008" y="3423389"/>
            <a:ext cx="2756336" cy="274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E3F68-7C26-1588-2883-D416EC49E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463" y="3555435"/>
            <a:ext cx="1933845" cy="381053"/>
          </a:xfrm>
          <a:prstGeom prst="rect">
            <a:avLst/>
          </a:prstGeom>
        </p:spPr>
      </p:pic>
      <p:sp>
        <p:nvSpPr>
          <p:cNvPr id="3" name="Google Shape;99;p2">
            <a:extLst>
              <a:ext uri="{FF2B5EF4-FFF2-40B4-BE49-F238E27FC236}">
                <a16:creationId xmlns:a16="http://schemas.microsoft.com/office/drawing/2014/main" id="{E98F3E28-5D98-EE54-A0E5-DD3989BFE9F0}"/>
              </a:ext>
            </a:extLst>
          </p:cNvPr>
          <p:cNvSpPr txBox="1"/>
          <p:nvPr/>
        </p:nvSpPr>
        <p:spPr>
          <a:xfrm>
            <a:off x="646134" y="501551"/>
            <a:ext cx="112045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and Results:</a:t>
            </a:r>
          </a:p>
        </p:txBody>
      </p:sp>
      <p:sp>
        <p:nvSpPr>
          <p:cNvPr id="4" name="Google Shape;99;p2">
            <a:extLst>
              <a:ext uri="{FF2B5EF4-FFF2-40B4-BE49-F238E27FC236}">
                <a16:creationId xmlns:a16="http://schemas.microsoft.com/office/drawing/2014/main" id="{B76EAF4C-F65A-709D-8E1C-28E54245C1C8}"/>
              </a:ext>
            </a:extLst>
          </p:cNvPr>
          <p:cNvSpPr txBox="1"/>
          <p:nvPr/>
        </p:nvSpPr>
        <p:spPr>
          <a:xfrm>
            <a:off x="1198553" y="2781463"/>
            <a:ext cx="489744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 the image in the data array:</a:t>
            </a:r>
          </a:p>
        </p:txBody>
      </p:sp>
    </p:spTree>
    <p:extLst>
      <p:ext uri="{BB962C8B-B14F-4D97-AF65-F5344CB8AC3E}">
        <p14:creationId xmlns:p14="http://schemas.microsoft.com/office/powerpoint/2010/main" val="2725733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31667475-338A-0A38-6B1F-8CD343A5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>
            <a:extLst>
              <a:ext uri="{FF2B5EF4-FFF2-40B4-BE49-F238E27FC236}">
                <a16:creationId xmlns:a16="http://schemas.microsoft.com/office/drawing/2014/main" id="{80EE3FC9-B649-58AE-4D2E-4881F25580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7375" y="195869"/>
            <a:ext cx="87572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/>
              <a:t>MODEL ARCHITECTURES</a:t>
            </a:r>
            <a:endParaRPr lang="en-US" b="1" dirty="0"/>
          </a:p>
        </p:txBody>
      </p:sp>
      <p:sp>
        <p:nvSpPr>
          <p:cNvPr id="169" name="Google Shape;169;p14">
            <a:extLst>
              <a:ext uri="{FF2B5EF4-FFF2-40B4-BE49-F238E27FC236}">
                <a16:creationId xmlns:a16="http://schemas.microsoft.com/office/drawing/2014/main" id="{81D15BC4-B41D-BFF8-CCE1-A303C34CD8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C2572F7F-5D52-184D-9B9B-990148B1D566}"/>
              </a:ext>
            </a:extLst>
          </p:cNvPr>
          <p:cNvSpPr txBox="1"/>
          <p:nvPr/>
        </p:nvSpPr>
        <p:spPr>
          <a:xfrm>
            <a:off x="493736" y="1206827"/>
            <a:ext cx="11204525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Model With Convolutional Neural Network (CNN)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resized to 100 × 100 × 3.</a:t>
            </a: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Layers Overview: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Convolutional Layers:</a:t>
            </a:r>
          </a:p>
          <a:p>
            <a:pPr marL="1828800" marR="0" lvl="0" indent="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Filters: 16, 32, and 64.</a:t>
            </a:r>
          </a:p>
          <a:p>
            <a:pPr marL="1828800" marR="0" lvl="0" indent="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sizes: 3 × 3 and 5 × 5.</a:t>
            </a:r>
          </a:p>
          <a:p>
            <a:pPr marL="1828800" marR="0" lvl="0" indent="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Activation: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828800" marR="0" lvl="0" indent="339725" algn="just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Normalization and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stability and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downsampling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2. Fully Connected Layer: 512 units with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activation and 50% dropout.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3. Output Layer: 6 units with sigmoid activation for multi-class classification.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870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FDDAA29D-86E2-892A-48F4-31C7946C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>
            <a:extLst>
              <a:ext uri="{FF2B5EF4-FFF2-40B4-BE49-F238E27FC236}">
                <a16:creationId xmlns:a16="http://schemas.microsoft.com/office/drawing/2014/main" id="{10D06FC1-F185-0A04-BD7C-4AAE233252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D079630D-F2D3-94ED-28AE-E90907309B79}"/>
              </a:ext>
            </a:extLst>
          </p:cNvPr>
          <p:cNvSpPr txBox="1"/>
          <p:nvPr/>
        </p:nvSpPr>
        <p:spPr>
          <a:xfrm>
            <a:off x="493737" y="982196"/>
            <a:ext cx="11204525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Model With YOLOv5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YOLOv5 Overview:</a:t>
            </a:r>
          </a:p>
          <a:p>
            <a:pPr marL="1319213" marR="0" lvl="0" indent="519113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254125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Lightweight YOLOv5s model for real-time object detection.</a:t>
            </a:r>
          </a:p>
          <a:p>
            <a:pPr marL="1319213" marR="0" lvl="0" indent="519113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254125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on the COCO dataset, achieving efficient detection with bounding boxes and confidence scores.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with Classification Model:</a:t>
            </a:r>
          </a:p>
          <a:p>
            <a:pPr marL="1828800" marR="0" lvl="0" indent="-5095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 detects objects and provides bounding boxes with confidence &gt;40%.</a:t>
            </a:r>
          </a:p>
          <a:p>
            <a:pPr marL="1828800" marR="0" lvl="0" indent="-5095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 regions are cropped, resized to 100 × 100, and normalized.</a:t>
            </a:r>
          </a:p>
          <a:p>
            <a:pPr marL="1828800" marR="0" lvl="0" indent="-5095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Cropped regions are classified using the CNN model to assign waste category labels.</a:t>
            </a:r>
          </a:p>
          <a:p>
            <a:pPr marL="1828800" marR="0" lvl="0" indent="-509588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combines YOLO bounding boxes and CNN labels.</a:t>
            </a:r>
          </a:p>
        </p:txBody>
      </p:sp>
    </p:spTree>
    <p:extLst>
      <p:ext uri="{BB962C8B-B14F-4D97-AF65-F5344CB8AC3E}">
        <p14:creationId xmlns:p14="http://schemas.microsoft.com/office/powerpoint/2010/main" val="139174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ac38830d_0_0"/>
          <p:cNvSpPr txBox="1">
            <a:spLocks noGrp="1"/>
          </p:cNvSpPr>
          <p:nvPr>
            <p:ph type="body" idx="1"/>
          </p:nvPr>
        </p:nvSpPr>
        <p:spPr>
          <a:xfrm>
            <a:off x="795913" y="1058130"/>
            <a:ext cx="10600174" cy="53987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Model With Convolutional Neural Network (CNN)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Setup:</a:t>
            </a:r>
          </a:p>
          <a:p>
            <a:pPr marL="862013" indent="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Optimizer: RMSprop with a learning rate of 0.001.</a:t>
            </a:r>
          </a:p>
          <a:p>
            <a:pPr marL="862013" indent="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Loss: Binary cross-entropy.</a:t>
            </a:r>
          </a:p>
          <a:p>
            <a:pPr marL="862013" indent="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Size: 16.</a:t>
            </a:r>
          </a:p>
          <a:p>
            <a:pPr marL="862013" indent="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Epochs: 50 with callbacks for early stopping and learning rate reduction.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400" dirty="0"/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</a:p>
          <a:p>
            <a:pPr marL="1371600" indent="-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20% of data reserved for validation.</a:t>
            </a:r>
          </a:p>
          <a:p>
            <a:pPr marL="1371600" indent="-509588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loss and accuracy monitored during training.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76" name="Google Shape;176;g276ac38830d_0_0"/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rgbClr val="242424"/>
                </a:solidFill>
                <a:highlight>
                  <a:srgbClr val="FFFFFF"/>
                </a:highlight>
              </a:rPr>
              <a:t>TRAINING AND VALIDATION </a:t>
            </a:r>
            <a:endParaRPr sz="3200" b="1" u="sng" dirty="0"/>
          </a:p>
        </p:txBody>
      </p:sp>
      <p:sp>
        <p:nvSpPr>
          <p:cNvPr id="177" name="Google Shape;177;g276ac38830d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19B7D75-AF37-C34E-009A-51DCB216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ac38830d_0_0">
            <a:extLst>
              <a:ext uri="{FF2B5EF4-FFF2-40B4-BE49-F238E27FC236}">
                <a16:creationId xmlns:a16="http://schemas.microsoft.com/office/drawing/2014/main" id="{6A0FBDF4-7320-02CD-2708-E2CBAFEE6E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40FB4-A845-F206-735C-C1AFCCF04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810" y="914739"/>
            <a:ext cx="5744377" cy="1200318"/>
          </a:xfrm>
          <a:prstGeom prst="rect">
            <a:avLst/>
          </a:prstGeom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B3F31D7E-3A0C-25DF-83C5-2606F800C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4" y="2781463"/>
            <a:ext cx="962025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9;p2">
            <a:extLst>
              <a:ext uri="{FF2B5EF4-FFF2-40B4-BE49-F238E27FC236}">
                <a16:creationId xmlns:a16="http://schemas.microsoft.com/office/drawing/2014/main" id="{ABACA451-1FA5-4DA5-D9D6-7E3A6F8E5180}"/>
              </a:ext>
            </a:extLst>
          </p:cNvPr>
          <p:cNvSpPr txBox="1"/>
          <p:nvPr/>
        </p:nvSpPr>
        <p:spPr>
          <a:xfrm>
            <a:off x="1047826" y="2381394"/>
            <a:ext cx="792036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and Validation Loss and Accuracy Trends Across Epochs:</a:t>
            </a:r>
          </a:p>
        </p:txBody>
      </p:sp>
      <p:sp>
        <p:nvSpPr>
          <p:cNvPr id="9" name="Google Shape;99;p2">
            <a:extLst>
              <a:ext uri="{FF2B5EF4-FFF2-40B4-BE49-F238E27FC236}">
                <a16:creationId xmlns:a16="http://schemas.microsoft.com/office/drawing/2014/main" id="{427D4CDC-D139-0794-EE05-8E60980FA195}"/>
              </a:ext>
            </a:extLst>
          </p:cNvPr>
          <p:cNvSpPr txBox="1"/>
          <p:nvPr/>
        </p:nvSpPr>
        <p:spPr>
          <a:xfrm>
            <a:off x="1047826" y="447748"/>
            <a:ext cx="792036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Training and Validation Loss and Accuracy:</a:t>
            </a:r>
          </a:p>
        </p:txBody>
      </p:sp>
    </p:spTree>
    <p:extLst>
      <p:ext uri="{BB962C8B-B14F-4D97-AF65-F5344CB8AC3E}">
        <p14:creationId xmlns:p14="http://schemas.microsoft.com/office/powerpoint/2010/main" val="12022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573FD65-4DE7-6E55-153B-796ADE89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ac38830d_0_0">
            <a:extLst>
              <a:ext uri="{FF2B5EF4-FFF2-40B4-BE49-F238E27FC236}">
                <a16:creationId xmlns:a16="http://schemas.microsoft.com/office/drawing/2014/main" id="{DF4CC1B2-CFB2-A6A5-DF06-C6B895338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81837"/>
            <a:ext cx="10515600" cy="57949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Model With YOLOv5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 algn="just">
              <a:spcBef>
                <a:spcPts val="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YOLOv5s Weights:</a:t>
            </a:r>
          </a:p>
          <a:p>
            <a:pPr marL="1254125" marR="0" lvl="0" indent="-339725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YOLOv5s model pre-trained on the COCO dataset for robust real-time object detection.</a:t>
            </a:r>
          </a:p>
          <a:p>
            <a:pPr marL="1254125" marR="0" lvl="0" indent="-339725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additional training required, ensuring efficient performance.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 algn="just">
              <a:spcBef>
                <a:spcPts val="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Process: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1. YOLO detects objects in webcam frames, extracting bounding boxes, 	   	confidence scores, and class IDs.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	2.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Bounding boxes are cropped, resized to, and normalized for CNN 	compatibility.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	3.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custom CNN classifies cropped regions into six waste categories.</a:t>
            </a:r>
          </a:p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The final output combines YOLO's bounding boxes with CNN labels, 	displayed on video frames in real time.</a:t>
            </a:r>
          </a:p>
        </p:txBody>
      </p:sp>
      <p:sp>
        <p:nvSpPr>
          <p:cNvPr id="177" name="Google Shape;177;g276ac38830d_0_0">
            <a:extLst>
              <a:ext uri="{FF2B5EF4-FFF2-40B4-BE49-F238E27FC236}">
                <a16:creationId xmlns:a16="http://schemas.microsoft.com/office/drawing/2014/main" id="{7A0E46A5-E45F-4A0B-0736-03FDD40289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23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5DDFB0-4FB3-D398-CE05-DC63BF3D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ac38830d_0_0">
            <a:extLst>
              <a:ext uri="{FF2B5EF4-FFF2-40B4-BE49-F238E27FC236}">
                <a16:creationId xmlns:a16="http://schemas.microsoft.com/office/drawing/2014/main" id="{0BE707CB-07BF-2848-2D04-779D086C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5913" y="987380"/>
            <a:ext cx="10600174" cy="53987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Model With Convolutional Neural Network (CNN)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Achieved approximately 86.4% on the test dataset.</a:t>
            </a: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test loss approximately 0.15.</a:t>
            </a: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Evaluates true positive, false positive, and false negative rates.</a:t>
            </a: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 Results: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76ac38830d_0_0">
            <a:extLst>
              <a:ext uri="{FF2B5EF4-FFF2-40B4-BE49-F238E27FC236}">
                <a16:creationId xmlns:a16="http://schemas.microsoft.com/office/drawing/2014/main" id="{2C589E30-67AC-F4C5-CC15-5823C87E6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rgbClr val="242424"/>
                </a:solidFill>
                <a:highlight>
                  <a:srgbClr val="FFFFFF"/>
                </a:highlight>
              </a:rPr>
              <a:t>EVALUATION METRICS </a:t>
            </a:r>
            <a:endParaRPr sz="3200" b="1" u="sng" dirty="0"/>
          </a:p>
        </p:txBody>
      </p:sp>
      <p:sp>
        <p:nvSpPr>
          <p:cNvPr id="177" name="Google Shape;177;g276ac38830d_0_0">
            <a:extLst>
              <a:ext uri="{FF2B5EF4-FFF2-40B4-BE49-F238E27FC236}">
                <a16:creationId xmlns:a16="http://schemas.microsoft.com/office/drawing/2014/main" id="{DECE071A-D1AF-5609-B5A1-1797D77EAB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B0DA9B-BF27-03F8-CBBC-883E201C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70" y="4179669"/>
            <a:ext cx="2074132" cy="21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58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F1F3EE-3A52-233F-4DA7-66C98734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ac38830d_0_0">
            <a:extLst>
              <a:ext uri="{FF2B5EF4-FFF2-40B4-BE49-F238E27FC236}">
                <a16:creationId xmlns:a16="http://schemas.microsoft.com/office/drawing/2014/main" id="{97CC9475-8821-A88C-99F1-2B6FB762F0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BEC6C28F-B116-D1DC-F84F-7932C54A4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2" y="1351975"/>
            <a:ext cx="54387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99;p2">
            <a:extLst>
              <a:ext uri="{FF2B5EF4-FFF2-40B4-BE49-F238E27FC236}">
                <a16:creationId xmlns:a16="http://schemas.microsoft.com/office/drawing/2014/main" id="{E0CA3D0C-7AC1-8F00-2885-83F2295A6E39}"/>
              </a:ext>
            </a:extLst>
          </p:cNvPr>
          <p:cNvSpPr txBox="1"/>
          <p:nvPr/>
        </p:nvSpPr>
        <p:spPr>
          <a:xfrm>
            <a:off x="927889" y="701455"/>
            <a:ext cx="489744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Matrix:</a:t>
            </a:r>
          </a:p>
        </p:txBody>
      </p:sp>
    </p:spTree>
    <p:extLst>
      <p:ext uri="{BB962C8B-B14F-4D97-AF65-F5344CB8AC3E}">
        <p14:creationId xmlns:p14="http://schemas.microsoft.com/office/powerpoint/2010/main" val="4096246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2718719-E181-1C26-DA5B-7D87C38A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ac38830d_0_0">
            <a:extLst>
              <a:ext uri="{FF2B5EF4-FFF2-40B4-BE49-F238E27FC236}">
                <a16:creationId xmlns:a16="http://schemas.microsoft.com/office/drawing/2014/main" id="{ABF13BA9-E9C2-E897-97AD-9B7C7D396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493" y="1058130"/>
            <a:ext cx="10600174" cy="53987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Model With YOLOv5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 Detection Metrics:</a:t>
            </a:r>
          </a:p>
          <a:p>
            <a:pPr marL="1031875" indent="-341313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Threshold: 40%.</a:t>
            </a:r>
          </a:p>
          <a:p>
            <a:pPr marL="1031875" indent="-341313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Bounding Box Accuracy.</a:t>
            </a:r>
          </a:p>
          <a:p>
            <a:pPr marL="342900" algn="just">
              <a:spcBef>
                <a:spcPts val="1200"/>
              </a:spcBef>
            </a:pPr>
            <a:endParaRPr lang="en-US" sz="2400" b="1" dirty="0"/>
          </a:p>
          <a:p>
            <a:pPr marL="342900" algn="just">
              <a:spcBef>
                <a:spcPts val="1200"/>
              </a:spcBef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Metrics:</a:t>
            </a:r>
          </a:p>
          <a:p>
            <a:pPr marL="1031875" indent="-341313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detection latency (~30 FPS on the webcam).</a:t>
            </a:r>
          </a:p>
          <a:p>
            <a:pPr marL="1031875" indent="-341313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accuracy for detection + classification pipeline.</a:t>
            </a:r>
          </a:p>
        </p:txBody>
      </p:sp>
      <p:sp>
        <p:nvSpPr>
          <p:cNvPr id="177" name="Google Shape;177;g276ac38830d_0_0">
            <a:extLst>
              <a:ext uri="{FF2B5EF4-FFF2-40B4-BE49-F238E27FC236}">
                <a16:creationId xmlns:a16="http://schemas.microsoft.com/office/drawing/2014/main" id="{6A6C1951-1AA4-1D30-5E3D-1C56CFD2BF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585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/>
        </p:nvSpPr>
        <p:spPr>
          <a:xfrm>
            <a:off x="2682467" y="416891"/>
            <a:ext cx="682706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 AND RESULTS</a:t>
            </a:r>
            <a:endParaRPr b="1" dirty="0"/>
          </a:p>
        </p:txBody>
      </p:sp>
      <p:sp>
        <p:nvSpPr>
          <p:cNvPr id="184" name="Google Shape;18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E94E44BE-21C6-E65D-68F7-A438AC169450}"/>
              </a:ext>
            </a:extLst>
          </p:cNvPr>
          <p:cNvSpPr txBox="1"/>
          <p:nvPr/>
        </p:nvSpPr>
        <p:spPr>
          <a:xfrm>
            <a:off x="493737" y="1328330"/>
            <a:ext cx="11204525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Model With Convolutional Neural Network (CNN)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predictions: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AD3AA-E207-E8D1-8ECA-226958E5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37" y="3000653"/>
            <a:ext cx="2428386" cy="2575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3A7586-4906-49C4-9783-FD21DA692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351" y="3000653"/>
            <a:ext cx="2439819" cy="2575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FA45A-76E4-C8DC-7973-E2E1986F0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725" y="2966602"/>
            <a:ext cx="2458537" cy="25757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F43C8-B5A7-D5C6-4657-FF7CA2339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398" y="3000653"/>
            <a:ext cx="2462960" cy="25757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6CDF247-E316-B901-8FB3-D2510B3E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>
            <a:extLst>
              <a:ext uri="{FF2B5EF4-FFF2-40B4-BE49-F238E27FC236}">
                <a16:creationId xmlns:a16="http://schemas.microsoft.com/office/drawing/2014/main" id="{6A0CF192-1A46-999B-3984-97164AE85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306BE-832E-B40A-53C9-69189339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39" y="665311"/>
            <a:ext cx="2074132" cy="2233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F5F2F8-3295-3E7F-383D-58DD2E19F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090" y="665310"/>
            <a:ext cx="2115988" cy="2233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67AC3D-9F54-513E-10CC-32E4AD109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924" y="665309"/>
            <a:ext cx="2122186" cy="2233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696BF4-DFA1-9A40-38D5-BCA484400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770" y="637302"/>
            <a:ext cx="2122186" cy="2261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1F96A0-D016-1479-C2E5-FD0164BFE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544" y="3429000"/>
            <a:ext cx="2122186" cy="2257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20EADA-57E4-E3BC-2AA7-D96329A7E9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4879" y="3429000"/>
            <a:ext cx="2122187" cy="2247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E1DDEF-A845-04C6-B702-CC2336A8F0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8413" y="3429000"/>
            <a:ext cx="2122187" cy="22296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851EED-5F64-C34E-435C-9CAD079D00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0246" y="3393693"/>
            <a:ext cx="2105210" cy="222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99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11CBD74-CBD3-B89B-F7F4-E735ABD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>
            <a:extLst>
              <a:ext uri="{FF2B5EF4-FFF2-40B4-BE49-F238E27FC236}">
                <a16:creationId xmlns:a16="http://schemas.microsoft.com/office/drawing/2014/main" id="{1351AD8D-F630-9C35-44D6-F975F0D48E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4EC4B7-C2A7-D127-1D4F-58310BC4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92" y="1635567"/>
            <a:ext cx="8616815" cy="733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84D03-4327-BC8E-E5AA-1C03A1DD5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47" y="3094892"/>
            <a:ext cx="5060217" cy="3464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5C622D-A4AA-099B-EDB4-C32753BCE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94892"/>
            <a:ext cx="5393731" cy="3392091"/>
          </a:xfrm>
          <a:prstGeom prst="rect">
            <a:avLst/>
          </a:prstGeom>
        </p:spPr>
      </p:pic>
      <p:sp>
        <p:nvSpPr>
          <p:cNvPr id="10" name="Google Shape;99;p2">
            <a:extLst>
              <a:ext uri="{FF2B5EF4-FFF2-40B4-BE49-F238E27FC236}">
                <a16:creationId xmlns:a16="http://schemas.microsoft.com/office/drawing/2014/main" id="{4ECF8E40-A824-E4E3-2D25-5793B4CD4804}"/>
              </a:ext>
            </a:extLst>
          </p:cNvPr>
          <p:cNvSpPr txBox="1"/>
          <p:nvPr/>
        </p:nvSpPr>
        <p:spPr>
          <a:xfrm>
            <a:off x="1489247" y="909769"/>
            <a:ext cx="389177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accuracy and test loss:</a:t>
            </a:r>
          </a:p>
        </p:txBody>
      </p:sp>
    </p:spTree>
    <p:extLst>
      <p:ext uri="{BB962C8B-B14F-4D97-AF65-F5344CB8AC3E}">
        <p14:creationId xmlns:p14="http://schemas.microsoft.com/office/powerpoint/2010/main" val="2093560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EF05B13-8F72-9D3D-9F59-46F6C53DC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>
            <a:extLst>
              <a:ext uri="{FF2B5EF4-FFF2-40B4-BE49-F238E27FC236}">
                <a16:creationId xmlns:a16="http://schemas.microsoft.com/office/drawing/2014/main" id="{484D06BB-1536-B20F-6BCA-3428A88050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A92A4CEE-3E1F-9C43-8581-1C98B458CEF5}"/>
              </a:ext>
            </a:extLst>
          </p:cNvPr>
          <p:cNvSpPr txBox="1"/>
          <p:nvPr/>
        </p:nvSpPr>
        <p:spPr>
          <a:xfrm>
            <a:off x="393253" y="523978"/>
            <a:ext cx="112045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algn="just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Model With YOLOv5</a:t>
            </a:r>
          </a:p>
          <a:p>
            <a:pPr marL="457200" algn="just"/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 of the detection + classification results from the webcam feed:</a:t>
            </a:r>
          </a:p>
          <a:p>
            <a:pPr marL="457200" marR="0" lvl="0" algn="just" rtl="0"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1371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774898220_0_37"/>
          <p:cNvSpPr txBox="1">
            <a:spLocks noGrp="1"/>
          </p:cNvSpPr>
          <p:nvPr>
            <p:ph type="sldNum" idx="12"/>
          </p:nvPr>
        </p:nvSpPr>
        <p:spPr>
          <a:xfrm>
            <a:off x="92229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94" name="Google Shape;294;g31774898220_0_37"/>
          <p:cNvSpPr txBox="1"/>
          <p:nvPr/>
        </p:nvSpPr>
        <p:spPr>
          <a:xfrm>
            <a:off x="3346500" y="488525"/>
            <a:ext cx="5499000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CONTRIBUTIONS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9;p2">
            <a:extLst>
              <a:ext uri="{FF2B5EF4-FFF2-40B4-BE49-F238E27FC236}">
                <a16:creationId xmlns:a16="http://schemas.microsoft.com/office/drawing/2014/main" id="{369C4FB4-051B-2B13-4ACE-A6ACF0C37BCD}"/>
              </a:ext>
            </a:extLst>
          </p:cNvPr>
          <p:cNvSpPr txBox="1"/>
          <p:nvPr/>
        </p:nvSpPr>
        <p:spPr>
          <a:xfrm>
            <a:off x="799469" y="1116359"/>
            <a:ext cx="10593062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algn="just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2020/E/054: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the detection model using YOLOv5.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YOLOv5 with the custom CNN for classification.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algn="just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2020/E/182: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and trained the classification model.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Worked on preprocessing steps.</a:t>
            </a:r>
          </a:p>
          <a:p>
            <a:pPr marL="457200" algn="just"/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algn="just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Tasks: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Research, documentation and data collection.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Preparing dataset (balanced sampling and organization).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visualizations.</a:t>
            </a:r>
          </a:p>
          <a:p>
            <a:pPr marL="8001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presentation slides preparation and recording.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4E367C1-D848-D37A-04C0-EFDA5414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774898220_0_37">
            <a:extLst>
              <a:ext uri="{FF2B5EF4-FFF2-40B4-BE49-F238E27FC236}">
                <a16:creationId xmlns:a16="http://schemas.microsoft.com/office/drawing/2014/main" id="{2324C1A4-0968-2A03-B9B5-C405A69A9C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229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94" name="Google Shape;294;g31774898220_0_37">
            <a:extLst>
              <a:ext uri="{FF2B5EF4-FFF2-40B4-BE49-F238E27FC236}">
                <a16:creationId xmlns:a16="http://schemas.microsoft.com/office/drawing/2014/main" id="{C19AA961-815F-B0F4-EECC-ED74B9440594}"/>
              </a:ext>
            </a:extLst>
          </p:cNvPr>
          <p:cNvSpPr txBox="1"/>
          <p:nvPr/>
        </p:nvSpPr>
        <p:spPr>
          <a:xfrm>
            <a:off x="3346500" y="488525"/>
            <a:ext cx="5499000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DD63BD-9300-598F-96FB-0719D16A5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85306"/>
              </p:ext>
            </p:extLst>
          </p:nvPr>
        </p:nvGraphicFramePr>
        <p:xfrm>
          <a:off x="1132115" y="1989574"/>
          <a:ext cx="10110279" cy="3579276"/>
        </p:xfrm>
        <a:graphic>
          <a:graphicData uri="http://schemas.openxmlformats.org/drawingml/2006/table">
            <a:tbl>
              <a:tblPr/>
              <a:tblGrid>
                <a:gridCol w="3778568">
                  <a:extLst>
                    <a:ext uri="{9D8B030D-6E8A-4147-A177-3AD203B41FA5}">
                      <a16:colId xmlns:a16="http://schemas.microsoft.com/office/drawing/2014/main" val="311911408"/>
                    </a:ext>
                  </a:extLst>
                </a:gridCol>
                <a:gridCol w="414439">
                  <a:extLst>
                    <a:ext uri="{9D8B030D-6E8A-4147-A177-3AD203B41FA5}">
                      <a16:colId xmlns:a16="http://schemas.microsoft.com/office/drawing/2014/main" val="812161177"/>
                    </a:ext>
                  </a:extLst>
                </a:gridCol>
                <a:gridCol w="445137">
                  <a:extLst>
                    <a:ext uri="{9D8B030D-6E8A-4147-A177-3AD203B41FA5}">
                      <a16:colId xmlns:a16="http://schemas.microsoft.com/office/drawing/2014/main" val="358504964"/>
                    </a:ext>
                  </a:extLst>
                </a:gridCol>
                <a:gridCol w="422114">
                  <a:extLst>
                    <a:ext uri="{9D8B030D-6E8A-4147-A177-3AD203B41FA5}">
                      <a16:colId xmlns:a16="http://schemas.microsoft.com/office/drawing/2014/main" val="3069918582"/>
                    </a:ext>
                  </a:extLst>
                </a:gridCol>
                <a:gridCol w="422114">
                  <a:extLst>
                    <a:ext uri="{9D8B030D-6E8A-4147-A177-3AD203B41FA5}">
                      <a16:colId xmlns:a16="http://schemas.microsoft.com/office/drawing/2014/main" val="56416385"/>
                    </a:ext>
                  </a:extLst>
                </a:gridCol>
                <a:gridCol w="414439">
                  <a:extLst>
                    <a:ext uri="{9D8B030D-6E8A-4147-A177-3AD203B41FA5}">
                      <a16:colId xmlns:a16="http://schemas.microsoft.com/office/drawing/2014/main" val="3651719913"/>
                    </a:ext>
                  </a:extLst>
                </a:gridCol>
                <a:gridCol w="414439">
                  <a:extLst>
                    <a:ext uri="{9D8B030D-6E8A-4147-A177-3AD203B41FA5}">
                      <a16:colId xmlns:a16="http://schemas.microsoft.com/office/drawing/2014/main" val="328846045"/>
                    </a:ext>
                  </a:extLst>
                </a:gridCol>
                <a:gridCol w="468163">
                  <a:extLst>
                    <a:ext uri="{9D8B030D-6E8A-4147-A177-3AD203B41FA5}">
                      <a16:colId xmlns:a16="http://schemas.microsoft.com/office/drawing/2014/main" val="752883349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1279133941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4228302202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2266457269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4277314281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507360909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2497407942"/>
                    </a:ext>
                  </a:extLst>
                </a:gridCol>
                <a:gridCol w="475838">
                  <a:extLst>
                    <a:ext uri="{9D8B030D-6E8A-4147-A177-3AD203B41FA5}">
                      <a16:colId xmlns:a16="http://schemas.microsoft.com/office/drawing/2014/main" val="1030640682"/>
                    </a:ext>
                  </a:extLst>
                </a:gridCol>
              </a:tblGrid>
              <a:tr h="399273">
                <a:tc rowSpan="2"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4"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339534"/>
                  </a:ext>
                </a:extLst>
              </a:tr>
              <a:tr h="3088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1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1100" b="1" i="0" u="none" strike="noStrike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nd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11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r>
                        <a:rPr lang="en-US" sz="11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US" sz="1100" b="1" i="0" u="none" strike="noStrike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en-US" sz="1100" b="1" i="0" u="none" strike="noStrike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en-US" sz="1100" b="1" i="0" u="none" strike="noStrike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en-US" sz="11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r>
                        <a:rPr lang="en-US" sz="11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96735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Topic Selection, Research, and Dataset Collection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613154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Preparation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254706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Classification Model Development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780732"/>
                  </a:ext>
                </a:extLst>
              </a:tr>
              <a:tr h="348988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Detection Model Development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423319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 Testing and Evaluation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360074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Improvements and Optimization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45075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Testing 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11022"/>
                  </a:ext>
                </a:extLst>
              </a:tr>
              <a:tr h="360311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Presentation Preparation</a:t>
                      </a:r>
                      <a:endParaRPr lang="en-US" dirty="0"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 marT="53340" marB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660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050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5c958bfc0_0_121"/>
          <p:cNvSpPr txBox="1">
            <a:spLocks noGrp="1"/>
          </p:cNvSpPr>
          <p:nvPr>
            <p:ph type="body" idx="1"/>
          </p:nvPr>
        </p:nvSpPr>
        <p:spPr>
          <a:xfrm>
            <a:off x="838200" y="1675325"/>
            <a:ext cx="10515600" cy="414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dirty="0"/>
              <a:t>Conclusion</a:t>
            </a:r>
          </a:p>
          <a:p>
            <a:pPr marL="342900" algn="just"/>
            <a:r>
              <a:rPr lang="en-US" sz="2400" dirty="0"/>
              <a:t>Successfully developed a system for automated waste classification with 86.4% accuracy and object detection for real-world scenarios.</a:t>
            </a:r>
          </a:p>
          <a:p>
            <a:pPr marL="342900" algn="just"/>
            <a:r>
              <a:rPr lang="en-US" sz="2400" dirty="0"/>
              <a:t>Enhanced recycling efficiency through automation, but challenges remain.</a:t>
            </a:r>
          </a:p>
          <a:p>
            <a:pPr marL="342900" algn="just"/>
            <a:endParaRPr lang="en-US" sz="2400" dirty="0"/>
          </a:p>
          <a:p>
            <a:pPr marL="0" indent="0" algn="just">
              <a:buNone/>
            </a:pPr>
            <a:r>
              <a:rPr lang="en-US" sz="2400" b="1" dirty="0"/>
              <a:t>Challenges</a:t>
            </a:r>
          </a:p>
          <a:p>
            <a:pPr marL="342900" algn="just"/>
            <a:r>
              <a:rPr lang="en-US" sz="2400" dirty="0"/>
              <a:t>Low Accuracy for Biological Waste: Difficulties due to visual similarities with other categories.</a:t>
            </a:r>
          </a:p>
          <a:p>
            <a:pPr marL="342900" algn="just"/>
            <a:r>
              <a:rPr lang="en-US" sz="2400" dirty="0"/>
              <a:t>Dataset Limitations: Imbalanced data and limited examples for some categories.</a:t>
            </a:r>
            <a:endParaRPr sz="2400" dirty="0"/>
          </a:p>
        </p:txBody>
      </p:sp>
      <p:sp>
        <p:nvSpPr>
          <p:cNvPr id="309" name="Google Shape;309;g315c958bfc0_0_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10" name="Google Shape;310;g315c958bfc0_0_121"/>
          <p:cNvSpPr txBox="1"/>
          <p:nvPr/>
        </p:nvSpPr>
        <p:spPr>
          <a:xfrm>
            <a:off x="2850582" y="468012"/>
            <a:ext cx="6490836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343A2E95-1C8E-5718-24BB-B3385B89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5c958bfc0_0_121">
            <a:extLst>
              <a:ext uri="{FF2B5EF4-FFF2-40B4-BE49-F238E27FC236}">
                <a16:creationId xmlns:a16="http://schemas.microsoft.com/office/drawing/2014/main" id="{A4748D48-B779-4599-E13B-FF590835C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46147"/>
            <a:ext cx="10515600" cy="414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dirty="0"/>
              <a:t>Future Work</a:t>
            </a:r>
          </a:p>
          <a:p>
            <a:pPr marL="342900" algn="just"/>
            <a:r>
              <a:rPr lang="en-US" sz="2400" dirty="0"/>
              <a:t>Expand</a:t>
            </a:r>
            <a:r>
              <a:rPr lang="en-US" sz="2400" b="1" dirty="0"/>
              <a:t> </a:t>
            </a:r>
            <a:r>
              <a:rPr lang="en-US" sz="2400" dirty="0"/>
              <a:t>dataset to include more waste categories.</a:t>
            </a:r>
          </a:p>
          <a:p>
            <a:pPr marL="342900" algn="just"/>
            <a:r>
              <a:rPr lang="en-US" sz="2400" dirty="0"/>
              <a:t>Improve biological waste classification using advanced techniques.</a:t>
            </a:r>
          </a:p>
          <a:p>
            <a:pPr marL="342900" algn="just"/>
            <a:r>
              <a:rPr lang="en-US" sz="2400" dirty="0"/>
              <a:t>Enhance detection accuracy and test in real-world environments.</a:t>
            </a:r>
            <a:endParaRPr sz="2400" dirty="0"/>
          </a:p>
        </p:txBody>
      </p:sp>
      <p:sp>
        <p:nvSpPr>
          <p:cNvPr id="309" name="Google Shape;309;g315c958bfc0_0_121">
            <a:extLst>
              <a:ext uri="{FF2B5EF4-FFF2-40B4-BE49-F238E27FC236}">
                <a16:creationId xmlns:a16="http://schemas.microsoft.com/office/drawing/2014/main" id="{5F6B67E9-2DF0-EB29-E27A-AB478A3F6D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10" name="Google Shape;310;g315c958bfc0_0_121">
            <a:extLst>
              <a:ext uri="{FF2B5EF4-FFF2-40B4-BE49-F238E27FC236}">
                <a16:creationId xmlns:a16="http://schemas.microsoft.com/office/drawing/2014/main" id="{720CAC46-0A10-45B4-B1F4-A4E17098E428}"/>
              </a:ext>
            </a:extLst>
          </p:cNvPr>
          <p:cNvSpPr txBox="1"/>
          <p:nvPr/>
        </p:nvSpPr>
        <p:spPr>
          <a:xfrm>
            <a:off x="2905848" y="516366"/>
            <a:ext cx="6380304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lang="en-US"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2479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"/>
          <p:cNvSpPr txBox="1">
            <a:spLocks noGrp="1"/>
          </p:cNvSpPr>
          <p:nvPr>
            <p:ph type="title"/>
          </p:nvPr>
        </p:nvSpPr>
        <p:spPr>
          <a:xfrm>
            <a:off x="4809750" y="2766150"/>
            <a:ext cx="2572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u="sng"/>
              <a:t>THANK YOU ! </a:t>
            </a:r>
            <a:endParaRPr b="1"/>
          </a:p>
        </p:txBody>
      </p:sp>
      <p:sp>
        <p:nvSpPr>
          <p:cNvPr id="386" name="Google Shape;38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e84276-a64f-4b2a-bd34-b40bfd10803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059670D07C214F86A5AE80FD6AE900" ma:contentTypeVersion="10" ma:contentTypeDescription="Create a new document." ma:contentTypeScope="" ma:versionID="4d9c46959e08321167767dfcce6217e2">
  <xsd:schema xmlns:xsd="http://www.w3.org/2001/XMLSchema" xmlns:xs="http://www.w3.org/2001/XMLSchema" xmlns:p="http://schemas.microsoft.com/office/2006/metadata/properties" xmlns:ns2="0ce84276-a64f-4b2a-bd34-b40bfd108035" targetNamespace="http://schemas.microsoft.com/office/2006/metadata/properties" ma:root="true" ma:fieldsID="41035bc2c7c5db7e2646f326b0667295" ns2:_="">
    <xsd:import namespace="0ce84276-a64f-4b2a-bd34-b40bfd1080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e84276-a64f-4b2a-bd34-b40bfd1080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563e2ec-2a64-48f0-85cf-71bc33852c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A5A095-A658-424B-A34B-0CD5BD9AFB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19296E-B90A-4023-83EA-52A4419ED600}">
  <ds:schemaRefs>
    <ds:schemaRef ds:uri="http://schemas.microsoft.com/office/2006/metadata/properties"/>
    <ds:schemaRef ds:uri="http://schemas.microsoft.com/office/infopath/2007/PartnerControls"/>
    <ds:schemaRef ds:uri="0ce84276-a64f-4b2a-bd34-b40bfd108035"/>
  </ds:schemaRefs>
</ds:datastoreItem>
</file>

<file path=customXml/itemProps3.xml><?xml version="1.0" encoding="utf-8"?>
<ds:datastoreItem xmlns:ds="http://schemas.openxmlformats.org/officeDocument/2006/customXml" ds:itemID="{51D71550-86EF-4327-880A-5617A31144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e84276-a64f-4b2a-bd34-b40bfd1080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1605</Words>
  <Application>Microsoft Office PowerPoint</Application>
  <PresentationFormat>Widescreen</PresentationFormat>
  <Paragraphs>366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Courier New</vt:lpstr>
      <vt:lpstr>Wingdings</vt:lpstr>
      <vt:lpstr>Office Theme</vt:lpstr>
      <vt:lpstr>WASTE DETECTION AND CLASSIFICATION FOR SMART RECYCLING</vt:lpstr>
      <vt:lpstr>PowerPoint Presentation</vt:lpstr>
      <vt:lpstr>PowerPoint Presentation</vt:lpstr>
      <vt:lpstr>PROBLEM STATEMENT</vt:lpstr>
      <vt:lpstr>OBJECTIVE</vt:lpstr>
      <vt:lpstr>PROPOSED SOLUTION</vt:lpstr>
      <vt:lpstr>DATASET OVERVIEW</vt:lpstr>
      <vt:lpstr>METHODOLOGY</vt:lpstr>
      <vt:lpstr>METHODOLOGY</vt:lpstr>
      <vt:lpstr>DATASET PREPARATION</vt:lpstr>
      <vt:lpstr>PowerPoint Presentation</vt:lpstr>
      <vt:lpstr>PowerPoint Presentation</vt:lpstr>
      <vt:lpstr>PREPROCESSING STEPS</vt:lpstr>
      <vt:lpstr>PowerPoint Presentation</vt:lpstr>
      <vt:lpstr>PowerPoint Presentation</vt:lpstr>
      <vt:lpstr>MODEL ARCHITECTURES</vt:lpstr>
      <vt:lpstr>PowerPoint Presentation</vt:lpstr>
      <vt:lpstr>TRAINING AND VALIDATION </vt:lpstr>
      <vt:lpstr>PowerPoint Presentation</vt:lpstr>
      <vt:lpstr>PowerPoint Presentation</vt:lpstr>
      <vt:lpstr>EVALUATION METRICS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HULANGAMUWA R.R.W.G.S.C.</dc:creator>
  <cp:lastModifiedBy>WIJESINGHE L.A.D.P.A.</cp:lastModifiedBy>
  <cp:revision>15</cp:revision>
  <dcterms:created xsi:type="dcterms:W3CDTF">2024-05-11T15:06:48Z</dcterms:created>
  <dcterms:modified xsi:type="dcterms:W3CDTF">2025-01-13T03:20:42Z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0x01010043059670D07C214F86A5AE80FD6AE900</vt:lpwstr>
  </property>
</Properties>
</file>